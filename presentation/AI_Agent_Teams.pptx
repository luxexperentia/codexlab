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constraint: demand grows faster than the organization can recruit, train and coordinate people. This presentation argues for starting a measured deployment now. It does not claim that every business needs a large agent fleet or that agents outperform people at every task. The recommendation is to establish a working capability and expand it on evidence.</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audience to identify the queue that currently limits growth. It might be response times, onboarding, account research or internal engineering requests. The economic opportunity comes from changing the amount of human attention required per completed unit of work. This is an analytical framing, not an empirical claim about every company.</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practical definitions for this presentation. Autonomy is bounded by permissions, tools and business rules. A team can involve a coordinator and specialist workers, or several agents coordinating through shared state. Multiple separate chatbots do not automatically constitute a coordinated team.</a:t>
            </a:r>
          </a:p>
          <a:p/>
          <a:p>
            <a:r>
              <a:t>Sources:</a:t>
            </a:r>
          </a:p>
          <a:p>
            <a:r>
              <a:t>[A] Anthropic · multi-agent research · 13 Jun 2025</a:t>
            </a:r>
          </a:p>
          <a:p>
            <a:r>
              <a:t>https://www.anthropic.com/engineering/multi-agent-research-system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proposal workflow is an illustrative design. Independent research streams can run concurrently; the final proposal still depends on their outputs. Separate roles can keep instructions focused. A reviewer agent can share the same blind spots as the writer, so agreement is not proof of correctness. Business rules, authoritative data and accountable owners remain necessary.</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result supports a specific architecture on a specific evaluation. It does not isolate coordination from the effects of greater compute or model mix. Ask whether your workflow has independent lines of inquiry whose findings can be checked and combined.</a:t>
            </a:r>
          </a:p>
          <a:p/>
          <a:p>
            <a:r>
              <a:t>Sources:</a:t>
            </a:r>
          </a:p>
          <a:p>
            <a:r>
              <a:t>[A] Anthropic · multi-agent research · 13 Jun 2025</a:t>
            </a:r>
          </a:p>
          <a:p>
            <a:r>
              <a:t>https://www.anthropic.com/engineering/multi-agent-research-system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published this experiment in February 2026. The build used external assembler/linker tooling, and x86 bootstrapping still required GCC support. The artifact was not a production compiler replacement. Treat it as evidence of substantial coordinated execution, not proof that a software department can be removed.</a:t>
            </a:r>
          </a:p>
          <a:p/>
          <a:p>
            <a:r>
              <a:t>Sources:</a:t>
            </a:r>
          </a:p>
          <a:p>
            <a:r>
              <a:t>[B] Anthropic · compiler experiment · 5 Feb 2026</a:t>
            </a:r>
          </a:p>
          <a:p>
            <a:r>
              <a:t>https://www.anthropic.com/engineering/building-c-compiler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Klarna’s annual filing gives different time periods for savings and chat share; keep those dates attached to each number. These are company-reported metrics, not an independent causal evaluation. Its prospectus also describes combining scalable AI service with high-quality human support. Savings do not imply that every interaction should be automated.</a:t>
            </a:r>
          </a:p>
          <a:p/>
          <a:p>
            <a:r>
              <a:t>Sources:</a:t>
            </a:r>
          </a:p>
          <a:p>
            <a:r>
              <a:t>[C] Klarna · 2025 Form 20-F · company estimates</a:t>
            </a:r>
          </a:p>
          <a:p>
            <a:r>
              <a:t>https://s205.q4cdn.com/644747736/files/doc_financials/2025/q4/Klarna-Group-plc-20-F-2025.pdf</a:t>
            </a:r>
          </a:p>
          <a:p>
            <a:r>
              <a:t>[F] Klarna · IPO prospectus · Sep 2025</a:t>
            </a:r>
          </a:p>
          <a:p>
            <a:r>
              <a:t>https://www.sec.gov/Archives/edgar/data/2003292/000200329225000052/klarnagroupplc424b4.htm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Salesforce published this customer result and included confirmation from the customer’s CTO. It is a vendor-reported production example without a controlled human comparison. The case demonstrates bounded agent automation; it does not disclose evidence that coordination among multiple agents caused the result.</a:t>
            </a:r>
          </a:p>
          <a:p/>
          <a:p>
            <a:r>
              <a:t>Sources:</a:t>
            </a:r>
          </a:p>
          <a:p>
            <a:r>
              <a:t>[D] Salesforce · customer results · 23 Jun 2025</a:t>
            </a:r>
          </a:p>
          <a:p>
            <a:r>
              <a:t>https://investor.salesforce.com/news/news-details/2025/Salesforce-Launches-Agentforce-3-to-Solve-the-Biggest-Blockers-to-Scaling-AI-Agents-Visibility-and-Control/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academic result concerns people using an assistant, not autonomous agents replacing people. Klarna’s figures are observational company reports and may reflect differences in case mix. The defensible conclusion is that AI can outperform previous processes on specific measures; the organization must establish that advantage on its own workload.</a:t>
            </a:r>
          </a:p>
          <a:p/>
          <a:p>
            <a:r>
              <a:t>Sources:</a:t>
            </a:r>
          </a:p>
          <a:p>
            <a:r>
              <a:t>[C] Klarna · 2025 Form 20-F · company estimates</a:t>
            </a:r>
          </a:p>
          <a:p>
            <a:r>
              <a:t>https://s205.q4cdn.com/644747736/files/doc_financials/2025/q4/Klarna-Group-plc-20-F-2025.pdf</a:t>
            </a:r>
          </a:p>
          <a:p>
            <a:r>
              <a:t>[E] Brynjolfsson, Li &amp; Raymond · QJE · 2025</a:t>
            </a:r>
          </a:p>
          <a:p>
            <a:r>
              <a:t>https://doi.org/10.1093/qje/qjae044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arithmetic. Automated cases require no direct handling in this scenario; their oversight is included in the 20-hour review allowance. Exceptions take longer than the original average. At a stable 0.12 human hours per case, a 200-hour budget supports about 1,667 cases. Capacity can support growth or redeployment; it becomes cash savings only if spending actually falls. These inputs are hypothetical and are not derived from the preceding case studies.</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cheap response that causes a second contact is not necessarily a cheap outcome. A production decision should include ongoing cost plus an explicit treatment of implementation cost, such as amortizing it over expected volume. Compare the same case types over the same period. This is a proposed evaluation framework, not a return-on-investment forecast.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reported token multiplier uses chat interactions as its baseline; it is not a universal price ratio or a comparison with human labor. More agents can duplicate work and introduce handoff failures. The decision criterion is the improvement in accepted outcomes per dollar on the target task.</a:t>
            </a:r>
          </a:p>
          <a:p/>
          <a:p>
            <a:r>
              <a:t>Sources:</a:t>
            </a:r>
          </a:p>
          <a:p>
            <a:r>
              <a:t>[A] Anthropic · multi-agent research · 13 Jun 2025</a:t>
            </a:r>
          </a:p>
          <a:p>
            <a:r>
              <a:t>https://www.anthropic.com/engineering/multi-agent-research-system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strategic inference, not a quantified finding about a specific competitor. Model access can be purchased quickly; workflow knowledge and trusted deployment practices take repeated execution. The cost of waiting depends on the value and volume of your automatable work. Do not claim that every competitor has already deployed agents.</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team design, not a requirement for five separate model instances. Start with the minimum architecture that works, then separate roles where specialization or parallel execution proves useful. Give each role a clear output, narrow permissions, a spending limit and a handoff path. Customer commitments and sensitive exceptions should follow the business’s existing authority structure.</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schedule, not a promise that every integration can be completed in a month. Include difficult cases in the sample. Agree how errors, repeat contacts and escalation time count. Continue preparation if data access or quality is not ready. A failed pilot that identifies the constraint can still prevent a costly rollout.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the audience to name the queue, owner and review date. The case for urgency rests on demonstrated capability and the time required to build operational experience. The evidence supports starting now on suitable work; it does not support buying an arbitrary number of agents or promising universal human replacement.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source documents to check scope and measurement periods. Primary means the organization or researchers reported the result; it does not mean every metric was independently audited. Selected cases are examples, not a representative success rate for agent projects.</a:t>
            </a:r>
          </a:p>
          <a:p/>
          <a:p>
            <a:r>
              <a:t>Sources:</a:t>
            </a:r>
          </a:p>
          <a:p>
            <a:r>
              <a:t>[A] Anthropic · multi-agent research · 13 Jun 2025</a:t>
            </a:r>
          </a:p>
          <a:p>
            <a:r>
              <a:t>https://www.anthropic.com/engineering/multi-agent-research-system</a:t>
            </a:r>
          </a:p>
          <a:p>
            <a:r>
              <a:t>[B] Anthropic · compiler experiment · 5 Feb 2026</a:t>
            </a:r>
          </a:p>
          <a:p>
            <a:r>
              <a:t>https://www.anthropic.com/engineering/building-c-compiler</a:t>
            </a:r>
          </a:p>
          <a:p>
            <a:r>
              <a:t>[C] Klarna · 2025 Form 20-F · company estimates</a:t>
            </a:r>
          </a:p>
          <a:p>
            <a:r>
              <a:t>https://s205.q4cdn.com/644747736/files/doc_financials/2025/q4/Klarna-Group-plc-20-F-2025.pdf</a:t>
            </a:r>
          </a:p>
          <a:p>
            <a:r>
              <a:t>[F] Klarna · IPO prospectus · Sep 2025</a:t>
            </a:r>
          </a:p>
          <a:p>
            <a:r>
              <a:t>https://www.sec.gov/Archives/edgar/data/2003292/000200329225000052/klarnagroupplc424b4.htm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deliberately separates coordinated multi-agent evidence from broader evidence that agent automation changes business economics. A business can combine those capabilities, but it must measure the incremental benefit of coordination locally.</a:t>
            </a:r>
          </a:p>
          <a:p/>
          <a:p>
            <a:r>
              <a:t>Sources:</a:t>
            </a:r>
          </a:p>
          <a:p>
            <a:r>
              <a:t>[D] Salesforce · customer results · 23 Jun 2025</a:t>
            </a:r>
          </a:p>
          <a:p>
            <a:r>
              <a:t>https://investor.salesforce.com/news/news-details/2025/Salesforce-Launches-Agentforce-3-to-Solve-the-Biggest-Blockers-to-Scaling-AI-Agents-Visibility-and-Control/</a:t>
            </a:r>
          </a:p>
          <a:p>
            <a:r>
              <a:t>[E] Brynjolfsson, Li &amp; Raymond · QJE · 2025</a:t>
            </a:r>
          </a:p>
          <a:p>
            <a:r>
              <a:t>https://doi.org/10.1093/qje/qjae044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engineering/multi-agent-research-system"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engineering/multi-agent-research-system"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engineering/building-c-compiler"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205.q4cdn.com/644747736/files/doc_financials/2025/q4/Klarna-Group-plc-20-F-2025.pdf"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nvestor.salesforce.com/news/news-details/2025/Salesforce-Launches-Agentforce-3-to-Solve-the-Biggest-Blockers-to-Scaling-AI-Agents-Visibility-and-Control/"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205.q4cdn.com/644747736/files/doc_financials/2025/q4/Klarna-Group-plc-20-F-2025.pdf" TargetMode="External"/><Relationship Id="rId3" Type="http://schemas.openxmlformats.org/officeDocument/2006/relationships/hyperlink" Target="https://doi.org/10.1093/qje/qjae044"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engineering/multi-agent-research-system"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engineering/multi-agent-research-system" TargetMode="External"/><Relationship Id="rId3" Type="http://schemas.openxmlformats.org/officeDocument/2006/relationships/hyperlink" Target="https://www.anthropic.com/engineering/building-c-compiler" TargetMode="External"/><Relationship Id="rId4" Type="http://schemas.openxmlformats.org/officeDocument/2006/relationships/hyperlink" Target="https://s205.q4cdn.com/644747736/files/doc_financials/2025/q4/Klarna-Group-plc-20-F-2025.pdf" TargetMode="External"/><Relationship Id="rId5" Type="http://schemas.openxmlformats.org/officeDocument/2006/relationships/hyperlink" Target="https://www.sec.gov/Archives/edgar/data/2003292/000200329225000052/klarnagroupplc424b4.htm" TargetMode="Externa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nvestor.salesforce.com/news/news-details/2025/Salesforce-Launches-Agentforce-3-to-Solve-the-Biggest-Blockers-to-Scaling-AI-Agents-Visibility-and-Control/" TargetMode="External"/><Relationship Id="rId3" Type="http://schemas.openxmlformats.org/officeDocument/2006/relationships/hyperlink" Target="https://doi.org/10.1093/qje/qjae044" TargetMode="External"/><Relationship Id="rId4"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EXECUTIVE BRIEFING / SEPTEMBER 2026</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Scaling a business</a:t>
            </a:r>
          </a:p>
          <a:p>
            <a:pPr>
              <a:spcAft>
                <a:spcPts val="500"/>
              </a:spcAft>
              <a:defRPr sz="3400" b="1">
                <a:solidFill>
                  <a:srgbClr val="F3F5F7"/>
                </a:solidFill>
                <a:latin typeface="Aptos"/>
              </a:defRPr>
            </a:pPr>
            <a:r>
              <a:t>with teams of AI agents</a:t>
            </a:r>
          </a:p>
        </p:txBody>
      </p:sp>
      <p:sp>
        <p:nvSpPr>
          <p:cNvPr id="5" name="TextBox 4"/>
          <p:cNvSpPr txBox="1"/>
          <p:nvPr/>
        </p:nvSpPr>
        <p:spPr>
          <a:xfrm>
            <a:off x="621792" y="2286000"/>
            <a:ext cx="10972800" cy="411480"/>
          </a:xfrm>
          <a:prstGeom prst="rect">
            <a:avLst/>
          </a:prstGeom>
          <a:noFill/>
        </p:spPr>
        <p:txBody>
          <a:bodyPr wrap="square" lIns="0" rIns="0" tIns="0" bIns="0">
            <a:spAutoFit/>
          </a:bodyPr>
          <a:lstStyle/>
          <a:p>
            <a:pPr>
              <a:spcAft>
                <a:spcPts val="500"/>
              </a:spcAft>
              <a:defRPr sz="1800" b="0">
                <a:solidFill>
                  <a:srgbClr val="B6C3D2"/>
                </a:solidFill>
                <a:latin typeface="Aptos"/>
              </a:defRPr>
            </a:pPr>
            <a:r>
              <a:t>The evidence, the operating model, and the decision to make now.</a:t>
            </a:r>
          </a:p>
        </p:txBody>
      </p:sp>
      <p:sp>
        <p:nvSpPr>
          <p:cNvPr id="6" name="Rectangle 5"/>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CAPACITY</a:t>
            </a:r>
          </a:p>
        </p:txBody>
      </p:sp>
      <p:sp>
        <p:nvSpPr>
          <p:cNvPr id="8" name="TextBox 7"/>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Complete more work without a matching increase in staffing.</a:t>
            </a:r>
          </a:p>
        </p:txBody>
      </p:sp>
      <p:sp>
        <p:nvSpPr>
          <p:cNvPr id="9" name="Rectangle 8"/>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COORDINATION</a:t>
            </a:r>
          </a:p>
        </p:txBody>
      </p:sp>
      <p:sp>
        <p:nvSpPr>
          <p:cNvPr id="11" name="TextBox 10"/>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Give specialist agents distinct responsibilities and shared goals.</a:t>
            </a:r>
          </a:p>
        </p:txBody>
      </p:sp>
      <p:sp>
        <p:nvSpPr>
          <p:cNvPr id="12" name="Rectangle 11"/>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ECONOMICS</a:t>
            </a:r>
          </a:p>
        </p:txBody>
      </p:sp>
      <p:sp>
        <p:nvSpPr>
          <p:cNvPr id="14" name="TextBox 13"/>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Scale the workflows that prove their value.</a:t>
            </a:r>
          </a:p>
        </p:txBody>
      </p:sp>
      <p:sp>
        <p:nvSpPr>
          <p:cNvPr id="15" name="TextBox 14"/>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A 15-minute case for building an agent workforce.</a:t>
            </a:r>
          </a:p>
        </p:txBody>
      </p:sp>
      <p:sp>
        <p:nvSpPr>
          <p:cNvPr id="16" name="TextBox 15"/>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01 / THE BUSINESS CONSTRAINT</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Growth creates more work</a:t>
            </a:r>
          </a:p>
          <a:p>
            <a:pPr>
              <a:spcAft>
                <a:spcPts val="500"/>
              </a:spcAft>
              <a:defRPr sz="3400" b="1">
                <a:solidFill>
                  <a:srgbClr val="F3F5F7"/>
                </a:solidFill>
                <a:latin typeface="Aptos"/>
              </a:defRPr>
            </a:pPr>
            <a:r>
              <a:t>before it creates more capacity.</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More customers</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More questions, onboarding checks, transactions and exceptions.</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More products</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More documentation, research, software changes and support.</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More markets</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More languages, operating hours and local requirements.</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When every additional unit of work requires human attention, growth carries a staffing burden.</a:t>
            </a:r>
          </a:p>
        </p:txBody>
      </p:sp>
      <p:sp>
        <p:nvSpPr>
          <p:cNvPr id="15" name="TextBox 14"/>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02 / WHAT THE TECHNOLOGY CHANGES</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An agent can carry work</a:t>
            </a:r>
          </a:p>
          <a:p>
            <a:pPr>
              <a:spcAft>
                <a:spcPts val="500"/>
              </a:spcAft>
              <a:defRPr sz="3400" b="1">
                <a:solidFill>
                  <a:srgbClr val="F3F5F7"/>
                </a:solidFill>
                <a:latin typeface="Aptos"/>
              </a:defRPr>
            </a:pPr>
            <a:r>
              <a:t>through several steps.</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An assistant</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Responds to a request: summarize this account or draft this reply.</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An agent</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Uses permitted tools to inspect the account, choose a next step and complete a bounded task.</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A team of agents</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Divides a larger job among specialists, combines their work and escalates exceptions.</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The business value appears when completed work replaces a queue of manual steps.</a:t>
            </a:r>
          </a:p>
        </p:txBody>
      </p:sp>
      <p:sp>
        <p:nvSpPr>
          <p:cNvPr id="15" name="TextBox 14"/>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[A] Anthropic · multi-agent research · 13 Jun 2025</a:t>
            </a:r>
          </a:p>
        </p:txBody>
      </p:sp>
      <p:sp>
        <p:nvSpPr>
          <p:cNvPr id="16" name="TextBox 15"/>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03 / WHY MULTIPLE AGENTS</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Divide the work where</a:t>
            </a:r>
          </a:p>
          <a:p>
            <a:pPr>
              <a:spcAft>
                <a:spcPts val="500"/>
              </a:spcAft>
              <a:defRPr sz="3400" b="1">
                <a:solidFill>
                  <a:srgbClr val="F3F5F7"/>
                </a:solidFill>
                <a:latin typeface="Aptos"/>
              </a:defRPr>
            </a:pPr>
            <a:r>
              <a:t>specialization and parallelism help.</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Coordinator</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Defines the objective, assigns tasks and tracks completion.</a:t>
            </a:r>
          </a:p>
        </p:txBody>
      </p:sp>
      <p:sp>
        <p:nvSpPr>
          <p:cNvPr id="8" name="TextBox 7"/>
          <p:cNvSpPr txBox="1"/>
          <p:nvPr/>
        </p:nvSpPr>
        <p:spPr>
          <a:xfrm>
            <a:off x="4133088" y="3538728"/>
            <a:ext cx="210312" cy="365760"/>
          </a:xfrm>
          <a:prstGeom prst="rect">
            <a:avLst/>
          </a:prstGeom>
          <a:noFill/>
        </p:spPr>
        <p:txBody>
          <a:bodyPr wrap="square" lIns="0" rIns="0" tIns="0" bIns="0">
            <a:spAutoFit/>
          </a:bodyPr>
          <a:lstStyle/>
          <a:p>
            <a:pPr>
              <a:spcAft>
                <a:spcPts val="500"/>
              </a:spcAft>
              <a:defRPr sz="2300" b="1">
                <a:solidFill>
                  <a:srgbClr val="67DDC0"/>
                </a:solidFill>
                <a:latin typeface="Aptos"/>
              </a:defRPr>
            </a:pPr>
            <a:r>
              <a:t>›</a:t>
            </a:r>
          </a:p>
        </p:txBody>
      </p:sp>
      <p:sp>
        <p:nvSpPr>
          <p:cNvPr id="9" name="Rectangle 8"/>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Specialists</a:t>
            </a:r>
          </a:p>
        </p:txBody>
      </p:sp>
      <p:sp>
        <p:nvSpPr>
          <p:cNvPr id="11" name="TextBox 10"/>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Research separate sources; inspect records; draft an answer.</a:t>
            </a:r>
          </a:p>
        </p:txBody>
      </p:sp>
      <p:sp>
        <p:nvSpPr>
          <p:cNvPr id="12" name="TextBox 11"/>
          <p:cNvSpPr txBox="1"/>
          <p:nvPr/>
        </p:nvSpPr>
        <p:spPr>
          <a:xfrm>
            <a:off x="7882128" y="3538728"/>
            <a:ext cx="210312" cy="365760"/>
          </a:xfrm>
          <a:prstGeom prst="rect">
            <a:avLst/>
          </a:prstGeom>
          <a:noFill/>
        </p:spPr>
        <p:txBody>
          <a:bodyPr wrap="square" lIns="0" rIns="0" tIns="0" bIns="0">
            <a:spAutoFit/>
          </a:bodyPr>
          <a:lstStyle/>
          <a:p>
            <a:pPr>
              <a:spcAft>
                <a:spcPts val="500"/>
              </a:spcAft>
              <a:defRPr sz="2300" b="1">
                <a:solidFill>
                  <a:srgbClr val="67DDC0"/>
                </a:solidFill>
                <a:latin typeface="Aptos"/>
              </a:defRPr>
            </a:pPr>
            <a:r>
              <a:t>›</a:t>
            </a:r>
          </a:p>
        </p:txBody>
      </p:sp>
      <p:sp>
        <p:nvSpPr>
          <p:cNvPr id="13" name="Rectangle 12"/>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Reviewer + owner</a:t>
            </a:r>
          </a:p>
        </p:txBody>
      </p:sp>
      <p:sp>
        <p:nvSpPr>
          <p:cNvPr id="15" name="TextBox 14"/>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Check evidence and rules; approve consequential actions.</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Example: a proposal team can investigate the customer, solution and delivery plan concurrently.</a:t>
            </a:r>
          </a:p>
        </p:txBody>
      </p:sp>
      <p:sp>
        <p:nvSpPr>
          <p:cNvPr id="17" name="TextBox 16"/>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04 / DIRECT MULTI-AGENT EVIDENCE</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A research team outperformed</a:t>
            </a:r>
          </a:p>
          <a:p>
            <a:pPr>
              <a:spcAft>
                <a:spcPts val="500"/>
              </a:spcAft>
              <a:defRPr sz="3400" b="1">
                <a:solidFill>
                  <a:srgbClr val="F3F5F7"/>
                </a:solidFill>
                <a:latin typeface="Aptos"/>
              </a:defRPr>
            </a:pPr>
            <a:r>
              <a:t>a single research agent.</a:t>
            </a:r>
          </a:p>
        </p:txBody>
      </p:sp>
      <p:sp>
        <p:nvSpPr>
          <p:cNvPr id="5" name="TextBox 4"/>
          <p:cNvSpPr txBox="1"/>
          <p:nvPr/>
        </p:nvSpPr>
        <p:spPr>
          <a:xfrm>
            <a:off x="594360" y="2267712"/>
            <a:ext cx="4572000" cy="777240"/>
          </a:xfrm>
          <a:prstGeom prst="rect">
            <a:avLst/>
          </a:prstGeom>
          <a:noFill/>
        </p:spPr>
        <p:txBody>
          <a:bodyPr wrap="square" lIns="0" rIns="0" tIns="0" bIns="0">
            <a:spAutoFit/>
          </a:bodyPr>
          <a:lstStyle/>
          <a:p>
            <a:pPr>
              <a:spcAft>
                <a:spcPts val="500"/>
              </a:spcAft>
              <a:defRPr sz="4900" b="1">
                <a:solidFill>
                  <a:srgbClr val="67DDC0"/>
                </a:solidFill>
                <a:latin typeface="Aptos"/>
              </a:defRPr>
            </a:pPr>
            <a:r>
              <a:t>+90.2%</a:t>
            </a:r>
          </a:p>
        </p:txBody>
      </p:sp>
      <p:sp>
        <p:nvSpPr>
          <p:cNvPr id="6" name="TextBox 5"/>
          <p:cNvSpPr txBox="1"/>
          <p:nvPr/>
        </p:nvSpPr>
        <p:spPr>
          <a:xfrm>
            <a:off x="621792" y="3090672"/>
            <a:ext cx="10972800" cy="411480"/>
          </a:xfrm>
          <a:prstGeom prst="rect">
            <a:avLst/>
          </a:prstGeom>
          <a:noFill/>
        </p:spPr>
        <p:txBody>
          <a:bodyPr wrap="square" lIns="0" rIns="0" tIns="0" bIns="0">
            <a:spAutoFit/>
          </a:bodyPr>
          <a:lstStyle/>
          <a:p>
            <a:pPr>
              <a:spcAft>
                <a:spcPts val="500"/>
              </a:spcAft>
              <a:defRPr sz="1700" b="0">
                <a:solidFill>
                  <a:srgbClr val="B6C3D2"/>
                </a:solidFill>
                <a:latin typeface="Aptos"/>
              </a:defRPr>
            </a:pPr>
            <a:r>
              <a:t>performance on an internal research evaluation</a:t>
            </a:r>
          </a:p>
        </p:txBody>
      </p:sp>
      <p:sp>
        <p:nvSpPr>
          <p:cNvPr id="7" name="Rectangle 6"/>
          <p:cNvSpPr/>
          <p:nvPr/>
        </p:nvSpPr>
        <p:spPr>
          <a:xfrm>
            <a:off x="59436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comparison</a:t>
            </a:r>
          </a:p>
        </p:txBody>
      </p:sp>
      <p:sp>
        <p:nvSpPr>
          <p:cNvPr id="9" name="TextBox 8"/>
          <p:cNvSpPr txBox="1"/>
          <p:nvPr/>
        </p:nvSpPr>
        <p:spPr>
          <a:xfrm>
            <a:off x="77724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Anthropic compared an Opus 4 lead with Sonnet 4 workers against a single Opus 4 agent.</a:t>
            </a:r>
          </a:p>
        </p:txBody>
      </p:sp>
      <p:sp>
        <p:nvSpPr>
          <p:cNvPr id="10" name="Rectangle 9"/>
          <p:cNvSpPr/>
          <p:nvPr/>
        </p:nvSpPr>
        <p:spPr>
          <a:xfrm>
            <a:off x="434340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Why it matters</a:t>
            </a:r>
          </a:p>
        </p:txBody>
      </p:sp>
      <p:sp>
        <p:nvSpPr>
          <p:cNvPr id="12" name="TextBox 11"/>
          <p:cNvSpPr txBox="1"/>
          <p:nvPr/>
        </p:nvSpPr>
        <p:spPr>
          <a:xfrm>
            <a:off x="452628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Independent research streams expand coverage before synthesis.</a:t>
            </a:r>
          </a:p>
        </p:txBody>
      </p:sp>
      <p:sp>
        <p:nvSpPr>
          <p:cNvPr id="13" name="Rectangle 12"/>
          <p:cNvSpPr/>
          <p:nvPr/>
        </p:nvSpPr>
        <p:spPr>
          <a:xfrm>
            <a:off x="809244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boundary</a:t>
            </a:r>
          </a:p>
        </p:txBody>
      </p:sp>
      <p:sp>
        <p:nvSpPr>
          <p:cNvPr id="15" name="TextBox 14"/>
          <p:cNvSpPr txBox="1"/>
          <p:nvPr/>
        </p:nvSpPr>
        <p:spPr>
          <a:xfrm>
            <a:off x="8275319"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A vendor evaluation against one agent; additional compute was used. This is not a human comparison.</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For suitable tasks, coordination can deliver a measurable quality gain.</a:t>
            </a:r>
          </a:p>
        </p:txBody>
      </p:sp>
      <p:sp>
        <p:nvSpPr>
          <p:cNvPr id="17" name="TextBox 16"/>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[A] Anthropic · multi-agent research · 13 Jun 2025</a:t>
            </a:r>
          </a:p>
        </p:txBody>
      </p:sp>
      <p:sp>
        <p:nvSpPr>
          <p:cNvPr id="18" name="TextBox 17"/>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05 / DIRECT MULTI-AGENT DEMONSTRATION</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Sixteen agents built</a:t>
            </a:r>
          </a:p>
          <a:p>
            <a:pPr>
              <a:spcAft>
                <a:spcPts val="500"/>
              </a:spcAft>
              <a:defRPr sz="3400" b="1">
                <a:solidFill>
                  <a:srgbClr val="F3F5F7"/>
                </a:solidFill>
                <a:latin typeface="Aptos"/>
              </a:defRPr>
            </a:pPr>
            <a:r>
              <a:t>a substantial compiler prototype.</a:t>
            </a:r>
          </a:p>
        </p:txBody>
      </p:sp>
      <p:sp>
        <p:nvSpPr>
          <p:cNvPr id="5" name="TextBox 4"/>
          <p:cNvSpPr txBox="1"/>
          <p:nvPr/>
        </p:nvSpPr>
        <p:spPr>
          <a:xfrm>
            <a:off x="594360" y="2267712"/>
            <a:ext cx="4572000" cy="777240"/>
          </a:xfrm>
          <a:prstGeom prst="rect">
            <a:avLst/>
          </a:prstGeom>
          <a:noFill/>
        </p:spPr>
        <p:txBody>
          <a:bodyPr wrap="square" lIns="0" rIns="0" tIns="0" bIns="0">
            <a:spAutoFit/>
          </a:bodyPr>
          <a:lstStyle/>
          <a:p>
            <a:pPr>
              <a:spcAft>
                <a:spcPts val="500"/>
              </a:spcAft>
              <a:defRPr sz="4900" b="1">
                <a:solidFill>
                  <a:srgbClr val="67DDC0"/>
                </a:solidFill>
                <a:latin typeface="Aptos"/>
              </a:defRPr>
            </a:pPr>
            <a:r>
              <a:t>16 agents</a:t>
            </a:r>
          </a:p>
        </p:txBody>
      </p:sp>
      <p:sp>
        <p:nvSpPr>
          <p:cNvPr id="6" name="TextBox 5"/>
          <p:cNvSpPr txBox="1"/>
          <p:nvPr/>
        </p:nvSpPr>
        <p:spPr>
          <a:xfrm>
            <a:off x="621792" y="3090672"/>
            <a:ext cx="10972800" cy="411480"/>
          </a:xfrm>
          <a:prstGeom prst="rect">
            <a:avLst/>
          </a:prstGeom>
          <a:noFill/>
        </p:spPr>
        <p:txBody>
          <a:bodyPr wrap="square" lIns="0" rIns="0" tIns="0" bIns="0">
            <a:spAutoFit/>
          </a:bodyPr>
          <a:lstStyle/>
          <a:p>
            <a:pPr>
              <a:spcAft>
                <a:spcPts val="500"/>
              </a:spcAft>
              <a:defRPr sz="1700" b="0">
                <a:solidFill>
                  <a:srgbClr val="B6C3D2"/>
                </a:solidFill>
                <a:latin typeface="Aptos"/>
              </a:defRPr>
            </a:pPr>
            <a:r>
              <a:t>roughly two weeks · nearly 2,000 sessions · about $20,000 in API costs</a:t>
            </a:r>
          </a:p>
        </p:txBody>
      </p:sp>
      <p:sp>
        <p:nvSpPr>
          <p:cNvPr id="7" name="Rectangle 6"/>
          <p:cNvSpPr/>
          <p:nvPr/>
        </p:nvSpPr>
        <p:spPr>
          <a:xfrm>
            <a:off x="59436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output</a:t>
            </a:r>
          </a:p>
        </p:txBody>
      </p:sp>
      <p:sp>
        <p:nvSpPr>
          <p:cNvPr id="9" name="TextBox 8"/>
          <p:cNvSpPr txBox="1"/>
          <p:nvPr/>
        </p:nvSpPr>
        <p:spPr>
          <a:xfrm>
            <a:off x="77724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A 100,000-line Rust-based C compiler that could build Linux 6.9 on three architectures.</a:t>
            </a:r>
          </a:p>
        </p:txBody>
      </p:sp>
      <p:sp>
        <p:nvSpPr>
          <p:cNvPr id="10" name="Rectangle 9"/>
          <p:cNvSpPr/>
          <p:nvPr/>
        </p:nvSpPr>
        <p:spPr>
          <a:xfrm>
            <a:off x="434340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Human contribution</a:t>
            </a:r>
          </a:p>
        </p:txBody>
      </p:sp>
      <p:sp>
        <p:nvSpPr>
          <p:cNvPr id="12" name="TextBox 11"/>
          <p:cNvSpPr txBox="1"/>
          <p:nvPr/>
        </p:nvSpPr>
        <p:spPr>
          <a:xfrm>
            <a:off x="452628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A researcher designed the harness, tests and interventions that made parallel work possible.</a:t>
            </a:r>
          </a:p>
        </p:txBody>
      </p:sp>
      <p:sp>
        <p:nvSpPr>
          <p:cNvPr id="13" name="Rectangle 12"/>
          <p:cNvSpPr/>
          <p:nvPr/>
        </p:nvSpPr>
        <p:spPr>
          <a:xfrm>
            <a:off x="809244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boundary</a:t>
            </a:r>
          </a:p>
        </p:txBody>
      </p:sp>
      <p:sp>
        <p:nvSpPr>
          <p:cNvPr id="15" name="TextBox 14"/>
          <p:cNvSpPr txBox="1"/>
          <p:nvPr/>
        </p:nvSpPr>
        <p:spPr>
          <a:xfrm>
            <a:off x="8275319"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The prototype needed external tools and had quality and efficiency limitations. API cost excludes human effort.</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A small supervising team can attempt a much larger body of implementation work.</a:t>
            </a:r>
          </a:p>
        </p:txBody>
      </p:sp>
      <p:sp>
        <p:nvSpPr>
          <p:cNvPr id="17" name="TextBox 16"/>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[B] Anthropic · compiler experiment · 5 Feb 2026</a:t>
            </a:r>
          </a:p>
        </p:txBody>
      </p:sp>
      <p:sp>
        <p:nvSpPr>
          <p:cNvPr id="18" name="TextBox 17"/>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06 / PRODUCTION ECONOMICS</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Klarna reports substantial</a:t>
            </a:r>
          </a:p>
          <a:p>
            <a:pPr>
              <a:spcAft>
                <a:spcPts val="500"/>
              </a:spcAft>
              <a:defRPr sz="3400" b="1">
                <a:solidFill>
                  <a:srgbClr val="F3F5F7"/>
                </a:solidFill>
                <a:latin typeface="Aptos"/>
              </a:defRPr>
            </a:pPr>
            <a:r>
              <a:t>customer-service labor substitution.</a:t>
            </a:r>
          </a:p>
        </p:txBody>
      </p:sp>
      <p:sp>
        <p:nvSpPr>
          <p:cNvPr id="5" name="TextBox 4"/>
          <p:cNvSpPr txBox="1"/>
          <p:nvPr/>
        </p:nvSpPr>
        <p:spPr>
          <a:xfrm>
            <a:off x="594360" y="2267712"/>
            <a:ext cx="4572000" cy="777240"/>
          </a:xfrm>
          <a:prstGeom prst="rect">
            <a:avLst/>
          </a:prstGeom>
          <a:noFill/>
        </p:spPr>
        <p:txBody>
          <a:bodyPr wrap="square" lIns="0" rIns="0" tIns="0" bIns="0">
            <a:spAutoFit/>
          </a:bodyPr>
          <a:lstStyle/>
          <a:p>
            <a:pPr>
              <a:spcAft>
                <a:spcPts val="500"/>
              </a:spcAft>
              <a:defRPr sz="4900" b="1">
                <a:solidFill>
                  <a:srgbClr val="67DDC0"/>
                </a:solidFill>
                <a:latin typeface="Aptos"/>
              </a:defRPr>
            </a:pPr>
            <a:r>
              <a:t>$39 million</a:t>
            </a:r>
          </a:p>
        </p:txBody>
      </p:sp>
      <p:sp>
        <p:nvSpPr>
          <p:cNvPr id="6" name="TextBox 5"/>
          <p:cNvSpPr txBox="1"/>
          <p:nvPr/>
        </p:nvSpPr>
        <p:spPr>
          <a:xfrm>
            <a:off x="621792" y="3090672"/>
            <a:ext cx="10972800" cy="411480"/>
          </a:xfrm>
          <a:prstGeom prst="rect">
            <a:avLst/>
          </a:prstGeom>
          <a:noFill/>
        </p:spPr>
        <p:txBody>
          <a:bodyPr wrap="square" lIns="0" rIns="0" tIns="0" bIns="0">
            <a:spAutoFit/>
          </a:bodyPr>
          <a:lstStyle/>
          <a:p>
            <a:pPr>
              <a:spcAft>
                <a:spcPts val="500"/>
              </a:spcAft>
              <a:defRPr sz="1700" b="0">
                <a:solidFill>
                  <a:srgbClr val="B6C3D2"/>
                </a:solidFill>
                <a:latin typeface="Aptos"/>
              </a:defRPr>
            </a:pPr>
            <a:r>
              <a:t>reported cost savings in 2024</a:t>
            </a:r>
          </a:p>
        </p:txBody>
      </p:sp>
      <p:sp>
        <p:nvSpPr>
          <p:cNvPr id="7" name="Rectangle 6"/>
          <p:cNvSpPr/>
          <p:nvPr/>
        </p:nvSpPr>
        <p:spPr>
          <a:xfrm>
            <a:off x="59436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Scale</a:t>
            </a:r>
          </a:p>
        </p:txBody>
      </p:sp>
      <p:sp>
        <p:nvSpPr>
          <p:cNvPr id="9" name="TextBox 8"/>
          <p:cNvSpPr txBox="1"/>
          <p:nvPr/>
        </p:nvSpPr>
        <p:spPr>
          <a:xfrm>
            <a:off x="77724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80% of customer-service chats handled by its AI assistant during 2025.</a:t>
            </a:r>
          </a:p>
        </p:txBody>
      </p:sp>
      <p:sp>
        <p:nvSpPr>
          <p:cNvPr id="10" name="Rectangle 9"/>
          <p:cNvSpPr/>
          <p:nvPr/>
        </p:nvSpPr>
        <p:spPr>
          <a:xfrm>
            <a:off x="434340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Labor equivalent</a:t>
            </a:r>
          </a:p>
        </p:txBody>
      </p:sp>
      <p:sp>
        <p:nvSpPr>
          <p:cNvPr id="12" name="TextBox 11"/>
          <p:cNvSpPr txBox="1"/>
          <p:nvPr/>
        </p:nvSpPr>
        <p:spPr>
          <a:xfrm>
            <a:off x="452628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Over 700 full-time agents’ workload, estimated from reductions in human-handled conversations.</a:t>
            </a:r>
          </a:p>
        </p:txBody>
      </p:sp>
      <p:sp>
        <p:nvSpPr>
          <p:cNvPr id="13" name="Rectangle 12"/>
          <p:cNvSpPr/>
          <p:nvPr/>
        </p:nvSpPr>
        <p:spPr>
          <a:xfrm>
            <a:off x="809244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Interpretation</a:t>
            </a:r>
          </a:p>
        </p:txBody>
      </p:sp>
      <p:sp>
        <p:nvSpPr>
          <p:cNvPr id="15" name="TextBox 14"/>
          <p:cNvSpPr txBox="1"/>
          <p:nvPr/>
        </p:nvSpPr>
        <p:spPr>
          <a:xfrm>
            <a:off x="8275319"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Routine work moved to software. The workload equivalent is not a verified count of people dismissed.</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This is deployment evidence for AI automation; the filing does not establish a multi-agent architecture.</a:t>
            </a:r>
          </a:p>
        </p:txBody>
      </p:sp>
      <p:sp>
        <p:nvSpPr>
          <p:cNvPr id="17" name="TextBox 16"/>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[C] Klarna · 2025 Form 20-F · company estimates</a:t>
            </a:r>
          </a:p>
        </p:txBody>
      </p:sp>
      <p:sp>
        <p:nvSpPr>
          <p:cNvPr id="18" name="TextBox 17"/>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07 / GROWTH WITHOUT PROPORTIONAL STAFFING</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At peak tax season, software</a:t>
            </a:r>
          </a:p>
          <a:p>
            <a:pPr>
              <a:spcAft>
                <a:spcPts val="500"/>
              </a:spcAft>
              <a:defRPr sz="3400" b="1">
                <a:solidFill>
                  <a:srgbClr val="F3F5F7"/>
                </a:solidFill>
                <a:latin typeface="Aptos"/>
              </a:defRPr>
            </a:pPr>
            <a:r>
              <a:t>absorbed routine support demand.</a:t>
            </a:r>
          </a:p>
        </p:txBody>
      </p:sp>
      <p:sp>
        <p:nvSpPr>
          <p:cNvPr id="5" name="TextBox 4"/>
          <p:cNvSpPr txBox="1"/>
          <p:nvPr/>
        </p:nvSpPr>
        <p:spPr>
          <a:xfrm>
            <a:off x="594360" y="2267712"/>
            <a:ext cx="4572000" cy="777240"/>
          </a:xfrm>
          <a:prstGeom prst="rect">
            <a:avLst/>
          </a:prstGeom>
          <a:noFill/>
        </p:spPr>
        <p:txBody>
          <a:bodyPr wrap="square" lIns="0" rIns="0" tIns="0" bIns="0">
            <a:spAutoFit/>
          </a:bodyPr>
          <a:lstStyle/>
          <a:p>
            <a:pPr>
              <a:spcAft>
                <a:spcPts val="500"/>
              </a:spcAft>
              <a:defRPr sz="4900" b="1">
                <a:solidFill>
                  <a:srgbClr val="67DDC0"/>
                </a:solidFill>
                <a:latin typeface="Aptos"/>
              </a:defRPr>
            </a:pPr>
            <a:r>
              <a:t>70%</a:t>
            </a:r>
          </a:p>
        </p:txBody>
      </p:sp>
      <p:sp>
        <p:nvSpPr>
          <p:cNvPr id="6" name="TextBox 5"/>
          <p:cNvSpPr txBox="1"/>
          <p:nvPr/>
        </p:nvSpPr>
        <p:spPr>
          <a:xfrm>
            <a:off x="621792" y="3090672"/>
            <a:ext cx="10972800" cy="411480"/>
          </a:xfrm>
          <a:prstGeom prst="rect">
            <a:avLst/>
          </a:prstGeom>
          <a:noFill/>
        </p:spPr>
        <p:txBody>
          <a:bodyPr wrap="square" lIns="0" rIns="0" tIns="0" bIns="0">
            <a:spAutoFit/>
          </a:bodyPr>
          <a:lstStyle/>
          <a:p>
            <a:pPr>
              <a:spcAft>
                <a:spcPts val="500"/>
              </a:spcAft>
              <a:defRPr sz="1700" b="0">
                <a:solidFill>
                  <a:srgbClr val="B6C3D2"/>
                </a:solidFill>
                <a:latin typeface="Aptos"/>
              </a:defRPr>
            </a:pPr>
            <a:r>
              <a:t>of administrative chat engagements resolved autonomously</a:t>
            </a:r>
          </a:p>
        </p:txBody>
      </p:sp>
      <p:sp>
        <p:nvSpPr>
          <p:cNvPr id="7" name="Rectangle 6"/>
          <p:cNvSpPr/>
          <p:nvPr/>
        </p:nvSpPr>
        <p:spPr>
          <a:xfrm>
            <a:off x="59436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business</a:t>
            </a:r>
          </a:p>
        </p:txBody>
      </p:sp>
      <p:sp>
        <p:nvSpPr>
          <p:cNvPr id="9" name="TextBox 8"/>
          <p:cNvSpPr txBox="1"/>
          <p:nvPr/>
        </p:nvSpPr>
        <p:spPr>
          <a:xfrm>
            <a:off x="77724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1-800Accountant, a virtual accounting firm serving small businesses.</a:t>
            </a:r>
          </a:p>
        </p:txBody>
      </p:sp>
      <p:sp>
        <p:nvSpPr>
          <p:cNvPr id="10" name="Rectangle 9"/>
          <p:cNvSpPr/>
          <p:nvPr/>
        </p:nvSpPr>
        <p:spPr>
          <a:xfrm>
            <a:off x="434340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setting</a:t>
            </a:r>
          </a:p>
        </p:txBody>
      </p:sp>
      <p:sp>
        <p:nvSpPr>
          <p:cNvPr id="12" name="TextBox 11"/>
          <p:cNvSpPr txBox="1"/>
          <p:nvPr/>
        </p:nvSpPr>
        <p:spPr>
          <a:xfrm>
            <a:off x="4526280"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Critical tax weeks in 2025, when administrative demand spikes.</a:t>
            </a:r>
          </a:p>
        </p:txBody>
      </p:sp>
      <p:sp>
        <p:nvSpPr>
          <p:cNvPr id="13" name="Rectangle 12"/>
          <p:cNvSpPr/>
          <p:nvPr/>
        </p:nvSpPr>
        <p:spPr>
          <a:xfrm>
            <a:off x="8092440" y="3703320"/>
            <a:ext cx="3502152" cy="174650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3877056"/>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The consequence</a:t>
            </a:r>
          </a:p>
        </p:txBody>
      </p:sp>
      <p:sp>
        <p:nvSpPr>
          <p:cNvPr id="15" name="TextBox 14"/>
          <p:cNvSpPr txBox="1"/>
          <p:nvPr/>
        </p:nvSpPr>
        <p:spPr>
          <a:xfrm>
            <a:off x="8275319" y="4407408"/>
            <a:ext cx="3108960" cy="969264"/>
          </a:xfrm>
          <a:prstGeom prst="rect">
            <a:avLst/>
          </a:prstGeom>
          <a:noFill/>
        </p:spPr>
        <p:txBody>
          <a:bodyPr wrap="square" lIns="0" rIns="0" tIns="0" bIns="0">
            <a:spAutoFit/>
          </a:bodyPr>
          <a:lstStyle/>
          <a:p>
            <a:pPr>
              <a:spcAft>
                <a:spcPts val="500"/>
              </a:spcAft>
              <a:defRPr sz="1600" b="0">
                <a:solidFill>
                  <a:srgbClr val="F3F5F7"/>
                </a:solidFill>
                <a:latin typeface="Aptos"/>
              </a:defRPr>
            </a:pPr>
            <a:r>
              <a:t>Staff can concentrate on cases that require professional attention.</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The reported result covers administrative chats; it does not mean autonomous accounting or tax advice.</a:t>
            </a:r>
          </a:p>
        </p:txBody>
      </p:sp>
      <p:sp>
        <p:nvSpPr>
          <p:cNvPr id="17" name="TextBox 16"/>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[D] Salesforce · customer results · 23 Jun 2025</a:t>
            </a:r>
          </a:p>
        </p:txBody>
      </p:sp>
      <p:sp>
        <p:nvSpPr>
          <p:cNvPr id="18" name="TextBox 17"/>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08 / THE HUMAN COMPARISON</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“Better” becomes useful</a:t>
            </a:r>
          </a:p>
          <a:p>
            <a:pPr>
              <a:spcAft>
                <a:spcPts val="500"/>
              </a:spcAft>
              <a:defRPr sz="3400" b="1">
                <a:solidFill>
                  <a:srgbClr val="F3F5F7"/>
                </a:solidFill>
                <a:latin typeface="Aptos"/>
              </a:defRPr>
            </a:pPr>
            <a:r>
              <a:t>when the task and metric are explicit.</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Speed · reported</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Klarna: two-minute query resolution versus 12 minutes for human agents, as of September 2024.</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Throughput · studied</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A published study of 5,172 support workers found 15% more issues resolved per hour with AI assistance.</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Quality · conditional</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Klarna reports similar satisfaction. The academic result varies across workers. Neither establishes universal superiority.</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Evaluate speed, quality and cost together on the actual work your business needs done.</a:t>
            </a:r>
          </a:p>
        </p:txBody>
      </p:sp>
      <p:sp>
        <p:nvSpPr>
          <p:cNvPr id="15" name="TextBox 14"/>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[C] Klarna · 2025 Form 20-F · company estimates</a:t>
            </a:r>
          </a:p>
        </p:txBody>
      </p:sp>
      <p:sp>
        <p:nvSpPr>
          <p:cNvPr id="16" name="TextBox 15"/>
          <p:cNvSpPr txBox="1"/>
          <p:nvPr/>
        </p:nvSpPr>
        <p:spPr>
          <a:xfrm>
            <a:off x="612648" y="6437376"/>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3"/>
              </a:rPr>
              <a:t>[E] Brynjolfsson, Li &amp; Raymond · QJE · 2025</a:t>
            </a:r>
          </a:p>
        </p:txBody>
      </p:sp>
      <p:sp>
        <p:nvSpPr>
          <p:cNvPr id="17" name="TextBox 16"/>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09 / HOW THE ADVANTAGE SCALES</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Lower human effort per case</a:t>
            </a:r>
          </a:p>
          <a:p>
            <a:pPr>
              <a:spcAft>
                <a:spcPts val="500"/>
              </a:spcAft>
              <a:defRPr sz="3400" b="1">
                <a:solidFill>
                  <a:srgbClr val="F3F5F7"/>
                </a:solidFill>
                <a:latin typeface="Aptos"/>
              </a:defRPr>
            </a:pPr>
            <a:r>
              <a:t>changes the capacity of the same team.</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Today</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1,000 cases × 12 minutes</a:t>
            </a:r>
          </a:p>
          <a:p>
            <a:pPr>
              <a:spcAft>
                <a:spcPts val="500"/>
              </a:spcAft>
              <a:defRPr sz="1900" b="0">
                <a:solidFill>
                  <a:srgbClr val="F3F5F7"/>
                </a:solidFill>
                <a:latin typeface="Aptos"/>
              </a:defRPr>
            </a:pPr>
            <a:r>
              <a:t>= 200 human hours</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Illustrative redesign</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600 automated cases</a:t>
            </a:r>
          </a:p>
          <a:p>
            <a:pPr>
              <a:spcAft>
                <a:spcPts val="500"/>
              </a:spcAft>
              <a:defRPr sz="1900" b="0">
                <a:solidFill>
                  <a:srgbClr val="F3F5F7"/>
                </a:solidFill>
                <a:latin typeface="Aptos"/>
              </a:defRPr>
            </a:pPr>
            <a:r>
              <a:t>400 exceptions × 15 minutes</a:t>
            </a:r>
          </a:p>
          <a:p>
            <a:pPr>
              <a:spcAft>
                <a:spcPts val="500"/>
              </a:spcAft>
              <a:defRPr sz="1900" b="0">
                <a:solidFill>
                  <a:srgbClr val="F3F5F7"/>
                </a:solidFill>
                <a:latin typeface="Aptos"/>
              </a:defRPr>
            </a:pPr>
            <a:r>
              <a:t>+ 20 hours of review</a:t>
            </a:r>
          </a:p>
          <a:p>
            <a:pPr>
              <a:spcAft>
                <a:spcPts val="500"/>
              </a:spcAft>
              <a:defRPr sz="1900" b="0">
                <a:solidFill>
                  <a:srgbClr val="F3F5F7"/>
                </a:solidFill>
                <a:latin typeface="Aptos"/>
              </a:defRPr>
            </a:pPr>
            <a:r>
              <a:t>= 120 human hours</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Capacity released</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80 hours per 1,000 cases</a:t>
            </a:r>
          </a:p>
          <a:p>
            <a:pPr>
              <a:spcAft>
                <a:spcPts val="500"/>
              </a:spcAft>
              <a:defRPr sz="1900" b="0">
                <a:solidFill>
                  <a:srgbClr val="F3F5F7"/>
                </a:solidFill>
                <a:latin typeface="Aptos"/>
              </a:defRPr>
            </a:pPr>
            <a:r>
              <a:t>40% less human effort</a:t>
            </a:r>
          </a:p>
          <a:p>
            <a:pPr>
              <a:spcAft>
                <a:spcPts val="500"/>
              </a:spcAft>
              <a:defRPr sz="1900" b="0">
                <a:solidFill>
                  <a:srgbClr val="F3F5F7"/>
                </a:solidFill>
                <a:latin typeface="Aptos"/>
              </a:defRPr>
            </a:pPr>
            <a:r>
              <a:t>~1.67× throughput at fixed hours</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Illustration only: assumes stable case mix and quality; excludes software and implementation costs.</a:t>
            </a:r>
          </a:p>
        </p:txBody>
      </p:sp>
      <p:sp>
        <p:nvSpPr>
          <p:cNvPr id="15" name="TextBox 14"/>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10 / THE BUSINESS CASE</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Count the cost</a:t>
            </a:r>
          </a:p>
          <a:p>
            <a:pPr>
              <a:spcAft>
                <a:spcPts val="500"/>
              </a:spcAft>
              <a:defRPr sz="3400" b="1">
                <a:solidFill>
                  <a:srgbClr val="F3F5F7"/>
                </a:solidFill>
                <a:latin typeface="Aptos"/>
              </a:defRPr>
            </a:pPr>
            <a:r>
              <a:t>of a successfully completed case.</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Include every cost</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Model usage, software, integration, supervision, retries and rework.</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Use a quality threshold</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Completion must meet your accuracy, service and escalation standards.</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Connect to value</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Track avoided spending or additional profitable volume; separate both from hours released.</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Unit cost = total workflow cost ÷ cases completed to the required standard.</a:t>
            </a:r>
          </a:p>
        </p:txBody>
      </p:sp>
      <p:sp>
        <p:nvSpPr>
          <p:cNvPr id="15" name="TextBox 14"/>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11 / WHEN A TEAM EARNS ITS COST</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Add agents only when</a:t>
            </a:r>
          </a:p>
          <a:p>
            <a:pPr>
              <a:spcAft>
                <a:spcPts val="500"/>
              </a:spcAft>
              <a:defRPr sz="3400" b="1">
                <a:solidFill>
                  <a:srgbClr val="F3F5F7"/>
                </a:solidFill>
                <a:latin typeface="Aptos"/>
              </a:defRPr>
            </a:pPr>
            <a:r>
              <a:t>the division of work improves results.</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Good candidates</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Independent research streams, distinct tools, large information sets and checkable outputs.</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Poor candidates</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Simple lookups, tightly dependent steps or tasks without a reliable success measure.</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Economic reality</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Anthropic reports about 15× chat token usage for its multi-agent systems. More capacity has a cost.</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Compare the team against a single agent and a simpler automated workflow.</a:t>
            </a:r>
          </a:p>
        </p:txBody>
      </p:sp>
      <p:sp>
        <p:nvSpPr>
          <p:cNvPr id="15" name="TextBox 14"/>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[A] Anthropic · multi-agent research · 13 Jun 2025</a:t>
            </a:r>
          </a:p>
        </p:txBody>
      </p:sp>
      <p:sp>
        <p:nvSpPr>
          <p:cNvPr id="16" name="TextBox 15"/>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12 / WHAT STARTING EARLIER BUYS</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The advantage accumulates</a:t>
            </a:r>
          </a:p>
          <a:p>
            <a:pPr>
              <a:spcAft>
                <a:spcPts val="500"/>
              </a:spcAft>
              <a:defRPr sz="3400" b="1">
                <a:solidFill>
                  <a:srgbClr val="F3F5F7"/>
                </a:solidFill>
                <a:latin typeface="Aptos"/>
              </a:defRPr>
            </a:pPr>
            <a:r>
              <a:t>through operating experience.</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First deployment</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Connect the data, define permissions and discover real exceptions.</a:t>
            </a:r>
          </a:p>
        </p:txBody>
      </p:sp>
      <p:sp>
        <p:nvSpPr>
          <p:cNvPr id="8" name="TextBox 7"/>
          <p:cNvSpPr txBox="1"/>
          <p:nvPr/>
        </p:nvSpPr>
        <p:spPr>
          <a:xfrm>
            <a:off x="4133088" y="3538728"/>
            <a:ext cx="210312" cy="365760"/>
          </a:xfrm>
          <a:prstGeom prst="rect">
            <a:avLst/>
          </a:prstGeom>
          <a:noFill/>
        </p:spPr>
        <p:txBody>
          <a:bodyPr wrap="square" lIns="0" rIns="0" tIns="0" bIns="0">
            <a:spAutoFit/>
          </a:bodyPr>
          <a:lstStyle/>
          <a:p>
            <a:pPr>
              <a:spcAft>
                <a:spcPts val="500"/>
              </a:spcAft>
              <a:defRPr sz="2300" b="1">
                <a:solidFill>
                  <a:srgbClr val="67DDC0"/>
                </a:solidFill>
                <a:latin typeface="Aptos"/>
              </a:defRPr>
            </a:pPr>
            <a:r>
              <a:t>›</a:t>
            </a:r>
          </a:p>
        </p:txBody>
      </p:sp>
      <p:sp>
        <p:nvSpPr>
          <p:cNvPr id="9" name="Rectangle 8"/>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Repeated execution</a:t>
            </a:r>
          </a:p>
        </p:txBody>
      </p:sp>
      <p:sp>
        <p:nvSpPr>
          <p:cNvPr id="11" name="TextBox 10"/>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Build evaluation examples, measure failures and refine escalation.</a:t>
            </a:r>
          </a:p>
        </p:txBody>
      </p:sp>
      <p:sp>
        <p:nvSpPr>
          <p:cNvPr id="12" name="TextBox 11"/>
          <p:cNvSpPr txBox="1"/>
          <p:nvPr/>
        </p:nvSpPr>
        <p:spPr>
          <a:xfrm>
            <a:off x="7882128" y="3538728"/>
            <a:ext cx="210312" cy="365760"/>
          </a:xfrm>
          <a:prstGeom prst="rect">
            <a:avLst/>
          </a:prstGeom>
          <a:noFill/>
        </p:spPr>
        <p:txBody>
          <a:bodyPr wrap="square" lIns="0" rIns="0" tIns="0" bIns="0">
            <a:spAutoFit/>
          </a:bodyPr>
          <a:lstStyle/>
          <a:p>
            <a:pPr>
              <a:spcAft>
                <a:spcPts val="500"/>
              </a:spcAft>
              <a:defRPr sz="2300" b="1">
                <a:solidFill>
                  <a:srgbClr val="67DDC0"/>
                </a:solidFill>
                <a:latin typeface="Aptos"/>
              </a:defRPr>
            </a:pPr>
            <a:r>
              <a:t>›</a:t>
            </a:r>
          </a:p>
        </p:txBody>
      </p:sp>
      <p:sp>
        <p:nvSpPr>
          <p:cNvPr id="13" name="Rectangle 12"/>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Next workflow</a:t>
            </a:r>
          </a:p>
        </p:txBody>
      </p:sp>
      <p:sp>
        <p:nvSpPr>
          <p:cNvPr id="15" name="TextBox 14"/>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Reuse integrations, operating knowledge and ownership structures.</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A competitor already operating these workflows may be improving them while you are still selecting tools.</a:t>
            </a:r>
          </a:p>
        </p:txBody>
      </p:sp>
      <p:sp>
        <p:nvSpPr>
          <p:cNvPr id="17" name="TextBox 16"/>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13 / A PRACTICAL FIRST TEAM</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Choose one queue and give</a:t>
            </a:r>
          </a:p>
          <a:p>
            <a:pPr>
              <a:spcAft>
                <a:spcPts val="500"/>
              </a:spcAft>
              <a:defRPr sz="3400" b="1">
                <a:solidFill>
                  <a:srgbClr val="F3F5F7"/>
                </a:solidFill>
                <a:latin typeface="Aptos"/>
              </a:defRPr>
            </a:pPr>
            <a:r>
              <a:t>each agent a defined responsibility.</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Intake + research</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Classify the request, retrieve approved records and identify missing information.</a:t>
            </a:r>
          </a:p>
        </p:txBody>
      </p:sp>
      <p:sp>
        <p:nvSpPr>
          <p:cNvPr id="8" name="TextBox 7"/>
          <p:cNvSpPr txBox="1"/>
          <p:nvPr/>
        </p:nvSpPr>
        <p:spPr>
          <a:xfrm>
            <a:off x="4133088" y="3538728"/>
            <a:ext cx="210312" cy="365760"/>
          </a:xfrm>
          <a:prstGeom prst="rect">
            <a:avLst/>
          </a:prstGeom>
          <a:noFill/>
        </p:spPr>
        <p:txBody>
          <a:bodyPr wrap="square" lIns="0" rIns="0" tIns="0" bIns="0">
            <a:spAutoFit/>
          </a:bodyPr>
          <a:lstStyle/>
          <a:p>
            <a:pPr>
              <a:spcAft>
                <a:spcPts val="500"/>
              </a:spcAft>
              <a:defRPr sz="2300" b="1">
                <a:solidFill>
                  <a:srgbClr val="67DDC0"/>
                </a:solidFill>
                <a:latin typeface="Aptos"/>
              </a:defRPr>
            </a:pPr>
            <a:r>
              <a:t>›</a:t>
            </a:r>
          </a:p>
        </p:txBody>
      </p:sp>
      <p:sp>
        <p:nvSpPr>
          <p:cNvPr id="9" name="Rectangle 8"/>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Execution + checking</a:t>
            </a:r>
          </a:p>
        </p:txBody>
      </p:sp>
      <p:sp>
        <p:nvSpPr>
          <p:cNvPr id="11" name="TextBox 10"/>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Prepare or perform allowed actions; check the result against rules and evidence.</a:t>
            </a:r>
          </a:p>
        </p:txBody>
      </p:sp>
      <p:sp>
        <p:nvSpPr>
          <p:cNvPr id="12" name="TextBox 11"/>
          <p:cNvSpPr txBox="1"/>
          <p:nvPr/>
        </p:nvSpPr>
        <p:spPr>
          <a:xfrm>
            <a:off x="7882128" y="3538728"/>
            <a:ext cx="210312" cy="365760"/>
          </a:xfrm>
          <a:prstGeom prst="rect">
            <a:avLst/>
          </a:prstGeom>
          <a:noFill/>
        </p:spPr>
        <p:txBody>
          <a:bodyPr wrap="square" lIns="0" rIns="0" tIns="0" bIns="0">
            <a:spAutoFit/>
          </a:bodyPr>
          <a:lstStyle/>
          <a:p>
            <a:pPr>
              <a:spcAft>
                <a:spcPts val="500"/>
              </a:spcAft>
              <a:defRPr sz="2300" b="1">
                <a:solidFill>
                  <a:srgbClr val="67DDC0"/>
                </a:solidFill>
                <a:latin typeface="Aptos"/>
              </a:defRPr>
            </a:pPr>
            <a:r>
              <a:t>›</a:t>
            </a:r>
          </a:p>
        </p:txBody>
      </p:sp>
      <p:sp>
        <p:nvSpPr>
          <p:cNvPr id="13" name="Rectangle 12"/>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Human owner</a:t>
            </a:r>
          </a:p>
        </p:txBody>
      </p:sp>
      <p:sp>
        <p:nvSpPr>
          <p:cNvPr id="15" name="TextBox 14"/>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Handle ambiguity, approve commitments and own customer outcomes.</a:t>
            </a:r>
          </a:p>
        </p:txBody>
      </p:sp>
      <p:sp>
        <p:nvSpPr>
          <p:cNvPr id="16" name="TextBox 15"/>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Example starting point: administrative customer requests with clear policies and reversible actions.</a:t>
            </a:r>
          </a:p>
        </p:txBody>
      </p:sp>
      <p:sp>
        <p:nvSpPr>
          <p:cNvPr id="17" name="TextBox 16"/>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14 / THE FIRST 30 DAYS</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Build enough evidence</a:t>
            </a:r>
          </a:p>
          <a:p>
            <a:pPr>
              <a:spcAft>
                <a:spcPts val="500"/>
              </a:spcAft>
              <a:defRPr sz="3400" b="1">
                <a:solidFill>
                  <a:srgbClr val="F3F5F7"/>
                </a:solidFill>
                <a:latin typeface="Aptos"/>
              </a:defRPr>
            </a:pPr>
            <a:r>
              <a:t>to make a real scaling decision.</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Days 1–7 · baseline</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Choose one queue and accountable owner. Measure cost, quality, volume and response time.</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Days 8–21 · compare</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Test on representative cases; compare single-agent and team designs. Run with human review.</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Days 22–30 · decide</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Use a bounded live pilot if ready. Expand only when quality and economics meet agreed thresholds.</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Predefine the success criteria, spending cap and stop conditions before the pilot begins.</a:t>
            </a:r>
          </a:p>
        </p:txBody>
      </p:sp>
      <p:sp>
        <p:nvSpPr>
          <p:cNvPr id="15" name="TextBox 14"/>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15 / THE DECISION</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Give one agent team</a:t>
            </a:r>
          </a:p>
          <a:p>
            <a:pPr>
              <a:spcAft>
                <a:spcPts val="500"/>
              </a:spcAft>
              <a:defRPr sz="3400" b="1">
                <a:solidFill>
                  <a:srgbClr val="F3F5F7"/>
                </a:solidFill>
                <a:latin typeface="Aptos"/>
              </a:defRPr>
            </a:pPr>
            <a:r>
              <a:t>a real business objective now.</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Assign</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An executive sponsor and an operational owner.</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Fund</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One bounded workflow, with a budget and a measurable baseline.</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Review</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A dated decision to expand, revise or stop based on accepted outcomes and cost.</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The path to an agent workforce starts with one team that earns the right to scale.</a:t>
            </a:r>
          </a:p>
        </p:txBody>
      </p:sp>
      <p:sp>
        <p:nvSpPr>
          <p:cNvPr id="15" name="TextBox 14"/>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APPENDIX / EVIDENCE REGISTER</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What the examples establish</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A · research system</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Internal evaluation of a coordinated team versus a single agent. Architecture and compute both differ.</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B · compiler</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Vendor research demonstration with a published artifact. Human setup and technical limits remain material.</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C + F · Klarna</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Company filings on operational savings and labor equivalence, alongside a hybrid service strategy.</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Primary sources are linked below and in the speaker notes.</a:t>
            </a:r>
          </a:p>
        </p:txBody>
      </p:sp>
      <p:sp>
        <p:nvSpPr>
          <p:cNvPr id="15" name="TextBox 14"/>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[A] Anthropic · multi-agent research · 13 Jun 2025</a:t>
            </a:r>
          </a:p>
        </p:txBody>
      </p:sp>
      <p:sp>
        <p:nvSpPr>
          <p:cNvPr id="16" name="TextBox 15"/>
          <p:cNvSpPr txBox="1"/>
          <p:nvPr/>
        </p:nvSpPr>
        <p:spPr>
          <a:xfrm>
            <a:off x="612648" y="6437376"/>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3"/>
              </a:rPr>
              <a:t>[B] Anthropic · compiler experiment · 5 Feb 2026</a:t>
            </a:r>
          </a:p>
        </p:txBody>
      </p:sp>
      <p:sp>
        <p:nvSpPr>
          <p:cNvPr id="17" name="TextBox 16"/>
          <p:cNvSpPr txBox="1"/>
          <p:nvPr/>
        </p:nvSpPr>
        <p:spPr>
          <a:xfrm>
            <a:off x="612648" y="6547104"/>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4"/>
              </a:rPr>
              <a:t>[C] Klarna · 2025 Form 20-F · company estimates</a:t>
            </a:r>
          </a:p>
        </p:txBody>
      </p:sp>
      <p:sp>
        <p:nvSpPr>
          <p:cNvPr id="18" name="TextBox 17"/>
          <p:cNvSpPr txBox="1"/>
          <p:nvPr/>
        </p:nvSpPr>
        <p:spPr>
          <a:xfrm>
            <a:off x="612648" y="6656832"/>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5"/>
              </a:rPr>
              <a:t>[F] Klarna · IPO prospectus · Sep 2025</a:t>
            </a:r>
          </a:p>
        </p:txBody>
      </p:sp>
      <p:sp>
        <p:nvSpPr>
          <p:cNvPr id="19" name="TextBox 18"/>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C2B"/>
        </a:solidFill>
        <a:effectLst/>
      </p:bgPr>
    </p:bg>
    <p:spTree>
      <p:nvGrpSpPr>
        <p:cNvPr id="1" name=""/>
        <p:cNvGrpSpPr/>
        <p:nvPr/>
      </p:nvGrpSpPr>
      <p:grpSpPr/>
      <p:sp>
        <p:nvSpPr>
          <p:cNvPr id="2" name="Rectangle 1"/>
          <p:cNvSpPr/>
          <p:nvPr/>
        </p:nvSpPr>
        <p:spPr>
          <a:xfrm>
            <a:off x="502920" y="384048"/>
            <a:ext cx="91440" cy="210312"/>
          </a:xfrm>
          <a:prstGeom prst="rect">
            <a:avLst/>
          </a:prstGeom>
          <a:solidFill>
            <a:srgbClr val="67DD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10058400" cy="274320"/>
          </a:xfrm>
          <a:prstGeom prst="rect">
            <a:avLst/>
          </a:prstGeom>
          <a:noFill/>
        </p:spPr>
        <p:txBody>
          <a:bodyPr wrap="square" lIns="0" rIns="0" tIns="0" bIns="0">
            <a:spAutoFit/>
          </a:bodyPr>
          <a:lstStyle/>
          <a:p>
            <a:pPr>
              <a:spcAft>
                <a:spcPts val="500"/>
              </a:spcAft>
              <a:defRPr sz="1100" b="1">
                <a:solidFill>
                  <a:srgbClr val="67DDC0"/>
                </a:solidFill>
                <a:latin typeface="Aptos"/>
              </a:defRPr>
            </a:pPr>
            <a:r>
              <a:t>APPENDIX / EVIDENCE REGISTER</a:t>
            </a:r>
          </a:p>
        </p:txBody>
      </p:sp>
      <p:sp>
        <p:nvSpPr>
          <p:cNvPr id="4" name="TextBox 3"/>
          <p:cNvSpPr txBox="1"/>
          <p:nvPr/>
        </p:nvSpPr>
        <p:spPr>
          <a:xfrm>
            <a:off x="594360" y="896112"/>
            <a:ext cx="11018520" cy="1344168"/>
          </a:xfrm>
          <a:prstGeom prst="rect">
            <a:avLst/>
          </a:prstGeom>
          <a:noFill/>
        </p:spPr>
        <p:txBody>
          <a:bodyPr wrap="square" lIns="0" rIns="0" tIns="0" bIns="0">
            <a:spAutoFit/>
          </a:bodyPr>
          <a:lstStyle/>
          <a:p>
            <a:pPr>
              <a:spcAft>
                <a:spcPts val="500"/>
              </a:spcAft>
              <a:defRPr sz="3400" b="1">
                <a:solidFill>
                  <a:srgbClr val="F3F5F7"/>
                </a:solidFill>
                <a:latin typeface="Aptos"/>
              </a:defRPr>
            </a:pPr>
            <a:r>
              <a:t>Keep the comparisons distinct</a:t>
            </a:r>
          </a:p>
        </p:txBody>
      </p:sp>
      <p:sp>
        <p:nvSpPr>
          <p:cNvPr id="5" name="Rectangle 4"/>
          <p:cNvSpPr/>
          <p:nvPr/>
        </p:nvSpPr>
        <p:spPr>
          <a:xfrm>
            <a:off x="59436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D · 1-800Accountant</a:t>
            </a:r>
          </a:p>
        </p:txBody>
      </p:sp>
      <p:sp>
        <p:nvSpPr>
          <p:cNvPr id="7" name="TextBox 6"/>
          <p:cNvSpPr txBox="1"/>
          <p:nvPr/>
        </p:nvSpPr>
        <p:spPr>
          <a:xfrm>
            <a:off x="77724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Customer production result published by its vendor. The metric concerns administrative chats at peak demand.</a:t>
            </a:r>
          </a:p>
        </p:txBody>
      </p:sp>
      <p:sp>
        <p:nvSpPr>
          <p:cNvPr id="8" name="Rectangle 7"/>
          <p:cNvSpPr/>
          <p:nvPr/>
        </p:nvSpPr>
        <p:spPr>
          <a:xfrm>
            <a:off x="434340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E · support-worker study</a:t>
            </a:r>
          </a:p>
        </p:txBody>
      </p:sp>
      <p:sp>
        <p:nvSpPr>
          <p:cNvPr id="10" name="TextBox 9"/>
          <p:cNvSpPr txBox="1"/>
          <p:nvPr/>
        </p:nvSpPr>
        <p:spPr>
          <a:xfrm>
            <a:off x="4526280"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Peer-reviewed evidence on AI-assisted people. It is not a multi-agent or autonomous-replacement experiment.</a:t>
            </a:r>
          </a:p>
        </p:txBody>
      </p:sp>
      <p:sp>
        <p:nvSpPr>
          <p:cNvPr id="11" name="Rectangle 10"/>
          <p:cNvSpPr/>
          <p:nvPr/>
        </p:nvSpPr>
        <p:spPr>
          <a:xfrm>
            <a:off x="8092440" y="2761488"/>
            <a:ext cx="3502152" cy="2523744"/>
          </a:xfrm>
          <a:prstGeom prst="rect">
            <a:avLst/>
          </a:prstGeom>
          <a:solidFill>
            <a:srgbClr val="1C2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2935224"/>
            <a:ext cx="3136392" cy="420624"/>
          </a:xfrm>
          <a:prstGeom prst="rect">
            <a:avLst/>
          </a:prstGeom>
          <a:noFill/>
        </p:spPr>
        <p:txBody>
          <a:bodyPr wrap="square" lIns="0" rIns="0" tIns="0" bIns="0">
            <a:spAutoFit/>
          </a:bodyPr>
          <a:lstStyle/>
          <a:p>
            <a:pPr>
              <a:spcAft>
                <a:spcPts val="500"/>
              </a:spcAft>
              <a:defRPr sz="1700" b="1">
                <a:solidFill>
                  <a:srgbClr val="67DDC0"/>
                </a:solidFill>
                <a:latin typeface="Aptos"/>
              </a:defRPr>
            </a:pPr>
            <a:r>
              <a:t>Illustrations + inferences</a:t>
            </a:r>
          </a:p>
        </p:txBody>
      </p:sp>
      <p:sp>
        <p:nvSpPr>
          <p:cNvPr id="13" name="TextBox 12"/>
          <p:cNvSpPr txBox="1"/>
          <p:nvPr/>
        </p:nvSpPr>
        <p:spPr>
          <a:xfrm>
            <a:off x="8275319" y="3465576"/>
            <a:ext cx="3108960" cy="1746503"/>
          </a:xfrm>
          <a:prstGeom prst="rect">
            <a:avLst/>
          </a:prstGeom>
          <a:noFill/>
        </p:spPr>
        <p:txBody>
          <a:bodyPr wrap="square" lIns="0" rIns="0" tIns="0" bIns="0">
            <a:spAutoFit/>
          </a:bodyPr>
          <a:lstStyle/>
          <a:p>
            <a:pPr>
              <a:spcAft>
                <a:spcPts val="500"/>
              </a:spcAft>
              <a:defRPr sz="1900" b="0">
                <a:solidFill>
                  <a:srgbClr val="F3F5F7"/>
                </a:solidFill>
                <a:latin typeface="Aptos"/>
              </a:defRPr>
            </a:pPr>
            <a:r>
              <a:t>The capacity model, rollout schedule and competitive argument are analytical proposals, not reported customer outcomes.</a:t>
            </a:r>
          </a:p>
        </p:txBody>
      </p:sp>
      <p:sp>
        <p:nvSpPr>
          <p:cNvPr id="14" name="TextBox 13"/>
          <p:cNvSpPr txBox="1"/>
          <p:nvPr/>
        </p:nvSpPr>
        <p:spPr>
          <a:xfrm>
            <a:off x="612648" y="5650992"/>
            <a:ext cx="10972800" cy="493776"/>
          </a:xfrm>
          <a:prstGeom prst="rect">
            <a:avLst/>
          </a:prstGeom>
          <a:noFill/>
        </p:spPr>
        <p:txBody>
          <a:bodyPr wrap="square" lIns="0" rIns="0" tIns="0" bIns="0">
            <a:spAutoFit/>
          </a:bodyPr>
          <a:lstStyle/>
          <a:p>
            <a:pPr>
              <a:spcAft>
                <a:spcPts val="500"/>
              </a:spcAft>
              <a:defRPr sz="1700" b="1">
                <a:solidFill>
                  <a:srgbClr val="F3F5F7"/>
                </a:solidFill>
                <a:latin typeface="Aptos"/>
              </a:defRPr>
            </a:pPr>
            <a:r>
              <a:t>Evidence checked 25 September 2026. Source dates and result periods are preserved.</a:t>
            </a:r>
          </a:p>
        </p:txBody>
      </p:sp>
      <p:sp>
        <p:nvSpPr>
          <p:cNvPr id="15" name="TextBox 14"/>
          <p:cNvSpPr txBox="1"/>
          <p:nvPr/>
        </p:nvSpPr>
        <p:spPr>
          <a:xfrm>
            <a:off x="612648" y="6327648"/>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2"/>
              </a:rPr>
              <a:t>[D] Salesforce · customer results · 23 Jun 2025</a:t>
            </a:r>
          </a:p>
        </p:txBody>
      </p:sp>
      <p:sp>
        <p:nvSpPr>
          <p:cNvPr id="16" name="TextBox 15"/>
          <p:cNvSpPr txBox="1"/>
          <p:nvPr/>
        </p:nvSpPr>
        <p:spPr>
          <a:xfrm>
            <a:off x="612648" y="6437376"/>
            <a:ext cx="10698480" cy="137160"/>
          </a:xfrm>
          <a:prstGeom prst="rect">
            <a:avLst/>
          </a:prstGeom>
          <a:noFill/>
        </p:spPr>
        <p:txBody>
          <a:bodyPr wrap="square" lIns="0" rIns="0" tIns="0" bIns="0">
            <a:spAutoFit/>
          </a:bodyPr>
          <a:lstStyle/>
          <a:p>
            <a:pPr>
              <a:spcAft>
                <a:spcPts val="500"/>
              </a:spcAft>
              <a:defRPr sz="800" b="0">
                <a:solidFill>
                  <a:srgbClr val="B6C3D2"/>
                </a:solidFill>
                <a:latin typeface="Aptos"/>
              </a:defRPr>
            </a:pPr>
            <a:r>
              <a:rPr>
                <a:hlinkClick r:id="rId3"/>
              </a:rPr>
              <a:t>[E] Brynjolfsson, Li &amp; Raymond · QJE · 2025</a:t>
            </a:r>
          </a:p>
        </p:txBody>
      </p:sp>
      <p:sp>
        <p:nvSpPr>
          <p:cNvPr id="17" name="TextBox 16"/>
          <p:cNvSpPr txBox="1"/>
          <p:nvPr/>
        </p:nvSpPr>
        <p:spPr>
          <a:xfrm>
            <a:off x="11064240" y="6473952"/>
            <a:ext cx="502920" cy="182880"/>
          </a:xfrm>
          <a:prstGeom prst="rect">
            <a:avLst/>
          </a:prstGeom>
          <a:noFill/>
        </p:spPr>
        <p:txBody>
          <a:bodyPr wrap="square" lIns="0" rIns="0" tIns="0" bIns="0">
            <a:spAutoFit/>
          </a:bodyPr>
          <a:lstStyle/>
          <a:p>
            <a:pPr>
              <a:spcAft>
                <a:spcPts val="500"/>
              </a:spcAft>
              <a:defRPr sz="1000" b="0">
                <a:solidFill>
                  <a:srgbClr val="B6C3D2"/>
                </a:solidFill>
                <a:latin typeface="Aptos"/>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a business with teams of AI agents</dc:title>
  <dc:subject>Executive briefing with evidence, speaker notes and sources</dc:subject>
  <dc:creator>Business strategy briefing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